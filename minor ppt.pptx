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5" r:id="rId3"/>
    <p:sldId id="270" r:id="rId4"/>
    <p:sldId id="271" r:id="rId5"/>
    <p:sldId id="269" r:id="rId6"/>
    <p:sldId id="273" r:id="rId7"/>
    <p:sldId id="268" r:id="rId8"/>
    <p:sldId id="260" r:id="rId9"/>
    <p:sldId id="272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75" d="100"/>
          <a:sy n="75" d="100"/>
        </p:scale>
        <p:origin x="288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70990" y="1416049"/>
            <a:ext cx="9144000" cy="129381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DEHAZE: AI-POWERED IMAGE DEHAZING USING DEEP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0990" y="3079750"/>
            <a:ext cx="9232900" cy="3384550"/>
          </a:xfrm>
        </p:spPr>
        <p:txBody>
          <a:bodyPr>
            <a:normAutofit fontScale="92500" lnSpcReduction="10000"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ID: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Ecs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_45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Branch: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Electronics &amp; Computer Science Engineering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Members: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Arnav Singhal — 2330293 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Abhishek Kumar Singh — 2330207 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Anushka Sharma — 2330291 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Bhavya Suman — 2330298 </a:t>
            </a: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Supervisors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Prof.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Suprava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Patnaik 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Electronics Engineering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KIIT Deemed to be University, Bhubaneswar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3890" y="142240"/>
            <a:ext cx="1260475" cy="8902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47675"/>
            <a:ext cx="10515600" cy="713105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2361" y="1630045"/>
            <a:ext cx="9947275" cy="4351338"/>
          </a:xfrm>
        </p:spPr>
        <p:txBody>
          <a:bodyPr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This Project Aims to Do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dehazing using pre-trained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MAXIM-S2 + lightweight adapter head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(~11K params)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tiled inference engine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arbitrary high-resolution image processing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backend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REST endpoints for dehazing + quality metrics (PSNR, SSIM, MSE)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a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frontend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drag-and-drop UI and before/after comparison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on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SOTS outdoor benchmark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quantitative + qualitative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local/offline deployment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no cloud dependency, data privacy preserved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modular, extensible architecture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future enhancements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Innovation in the project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Adapter Head with Zero-Initialization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novel part — instead of fine-tuning the entire MAXIM-S2 model (2.7M params), you appended a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tiny 11,043-parameter residual correction network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that: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Starts at zero weights → outputs zero at epoch 0 → system behaves exactly like the backbone initially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Gradually learns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the corrections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needed, not the full dehazing task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Achieves strong results on just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413 training pairs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without overfitting.</a:t>
            </a:r>
          </a:p>
          <a:p>
            <a:pPr mar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Tiled Inference Engine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dehazing research evaluates only on fixed 256×256 images. Your system: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Handles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resolution inputs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(including 4K)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Decomposes → processes → reconstructs without resizing or quality loss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Manages GPU memory constraints automatically</a:t>
            </a:r>
          </a:p>
          <a:p>
            <a:pPr mar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CC995-785A-A8C3-22C3-FF93999209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4650"/>
            <a:ext cx="10515600" cy="61150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Combined L1 + SSIM Loss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Rather than standard pixel-loss training: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 ensures pixel accuracy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SSIM term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explicitly optimizes for human perceptual quality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edges, texture, structure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 sharper, more natural outputs vs. L1-only blurry outputs</a:t>
            </a:r>
          </a:p>
          <a:p>
            <a:pPr marL="0" indent="0">
              <a:buNone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Full-Stack Locally Deployable System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dehazing work stops at a model checkpoint. Yours delivers: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complete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production-ready web app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React)</a:t>
            </a: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cloud dependency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runs fully offline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Accessible to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non-technical users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via drag-and-drop UI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Built-in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quantitative evaluation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(PSNR/SSIM/MSE) within the UI itself</a:t>
            </a: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Efficient Transfer Learning on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Minimal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a high-quality dehazing model from scratch needs thousands of images and heavy compute. Your approach achieves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competitive PSNR (24–30 dB)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with: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413 image pairs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11K trainable parameters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Trainable on a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consumer CPU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(no expensive GPU required)</a:t>
            </a:r>
          </a:p>
          <a:p>
            <a:pPr marL="0" indent="0">
              <a:buNone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8637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190" y="472148"/>
            <a:ext cx="11002010" cy="132588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Prototype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17044B-9141-3696-A3A2-E40DBFF05A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675" y="1798028"/>
            <a:ext cx="10026650" cy="4098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1ADE4EB-6A9B-AFD5-AD83-1AF427D6C8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372" y="1050925"/>
            <a:ext cx="1025725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066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Performance on SOTS Outdoor Validation Set</a:t>
            </a:r>
            <a:endParaRPr 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B73A2EF-4085-BD75-BE8B-5DAF5570C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248045"/>
              </p:ext>
            </p:extLst>
          </p:nvPr>
        </p:nvGraphicFramePr>
        <p:xfrm>
          <a:off x="1765300" y="2862897"/>
          <a:ext cx="8661400" cy="302901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57375">
                  <a:extLst>
                    <a:ext uri="{9D8B030D-6E8A-4147-A177-3AD203B41FA5}">
                      <a16:colId xmlns:a16="http://schemas.microsoft.com/office/drawing/2014/main" val="2444433951"/>
                    </a:ext>
                  </a:extLst>
                </a:gridCol>
                <a:gridCol w="2371725">
                  <a:extLst>
                    <a:ext uri="{9D8B030D-6E8A-4147-A177-3AD203B41FA5}">
                      <a16:colId xmlns:a16="http://schemas.microsoft.com/office/drawing/2014/main" val="27638338"/>
                    </a:ext>
                  </a:extLst>
                </a:gridCol>
                <a:gridCol w="2851150">
                  <a:extLst>
                    <a:ext uri="{9D8B030D-6E8A-4147-A177-3AD203B41FA5}">
                      <a16:colId xmlns:a16="http://schemas.microsoft.com/office/drawing/2014/main" val="472246282"/>
                    </a:ext>
                  </a:extLst>
                </a:gridCol>
                <a:gridCol w="1581150">
                  <a:extLst>
                    <a:ext uri="{9D8B030D-6E8A-4147-A177-3AD203B41FA5}">
                      <a16:colId xmlns:a16="http://schemas.microsoft.com/office/drawing/2014/main" val="3403296652"/>
                    </a:ext>
                  </a:extLst>
                </a:gridCol>
              </a:tblGrid>
              <a:tr h="7907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IN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Hazy vs Ground Truth (Baseline)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Dehazed vs Ground Truth (Our Output)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IN" dirty="0"/>
                        <a:t>Improvement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1247832"/>
                  </a:ext>
                </a:extLst>
              </a:tr>
              <a:tr h="64265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IN" dirty="0"/>
                        <a:t>PSNR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N" dirty="0"/>
                        <a:t>15–20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N" dirty="0"/>
                        <a:t>24–30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N" dirty="0"/>
                        <a:t>+8–12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1813062"/>
                  </a:ext>
                </a:extLst>
              </a:tr>
              <a:tr h="64265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IN" dirty="0"/>
                        <a:t>SSIM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N" dirty="0"/>
                        <a:t>0.60–0.75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N" dirty="0"/>
                        <a:t>0.88–0.95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N" dirty="0"/>
                        <a:t>+0.15–0.20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044514"/>
                  </a:ext>
                </a:extLst>
              </a:tr>
              <a:tr h="64265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IN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N" dirty="0"/>
                        <a:t>250–500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N" dirty="0"/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N" dirty="0"/>
                        <a:t>~5× </a:t>
                      </a: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N" dirty="0"/>
                        <a:t>reduction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55414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87375"/>
            <a:ext cx="10515600" cy="848995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Solutions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746D425-B02F-AB24-FF23-9B543082DE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2138434"/>
              </p:ext>
            </p:extLst>
          </p:nvPr>
        </p:nvGraphicFramePr>
        <p:xfrm>
          <a:off x="1568450" y="1733551"/>
          <a:ext cx="9531350" cy="374523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4603750">
                  <a:extLst>
                    <a:ext uri="{9D8B030D-6E8A-4147-A177-3AD203B41FA5}">
                      <a16:colId xmlns:a16="http://schemas.microsoft.com/office/drawing/2014/main" val="279567040"/>
                    </a:ext>
                  </a:extLst>
                </a:gridCol>
                <a:gridCol w="4927600">
                  <a:extLst>
                    <a:ext uri="{9D8B030D-6E8A-4147-A177-3AD203B41FA5}">
                      <a16:colId xmlns:a16="http://schemas.microsoft.com/office/drawing/2014/main" val="3425095701"/>
                    </a:ext>
                  </a:extLst>
                </a:gridCol>
              </a:tblGrid>
              <a:tr h="33735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en-IN" dirty="0"/>
                        <a:t>Challenge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IN" dirty="0"/>
                        <a:t> Solution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7135090"/>
                  </a:ext>
                </a:extLst>
              </a:tr>
              <a:tr h="519507"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dirty="0"/>
                        <a:t>Model trained only on 256×256</a:t>
                      </a:r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IN" dirty="0"/>
                        <a:t>Tiled inference engine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2291604"/>
                  </a:ext>
                </a:extLst>
              </a:tr>
              <a:tr h="519507"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IN" dirty="0"/>
                        <a:t>Slow model loading (~2–3s)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dirty="0"/>
                        <a:t>Load once at startup, cache in memory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40006950"/>
                  </a:ext>
                </a:extLst>
              </a:tr>
              <a:tr h="519507"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dirty="0"/>
                        <a:t>CORS blocked in local dev</a:t>
                      </a:r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IN" dirty="0"/>
                        <a:t>CORS Middleware with </a:t>
                      </a:r>
                      <a:r>
                        <a:rPr lang="en-IN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allow_origins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=["*"]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22717803"/>
                  </a:ext>
                </a:extLst>
              </a:tr>
              <a:tr h="519507"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fr-FR" dirty="0" err="1"/>
                        <a:t>Random</a:t>
                      </a:r>
                      <a:r>
                        <a:rPr lang="fr-FR" dirty="0"/>
                        <a:t> adapter init causes </a:t>
                      </a:r>
                      <a:r>
                        <a:rPr lang="fr-FR" dirty="0" err="1"/>
                        <a:t>instability</a:t>
                      </a:r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IN" dirty="0"/>
                        <a:t>Zero-weight initialization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8788363"/>
                  </a:ext>
                </a:extLst>
              </a:tr>
              <a:tr h="519507"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US" dirty="0"/>
                        <a:t>GPU memory limits for large images</a:t>
                      </a:r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IN" dirty="0"/>
                        <a:t>Tile-by-tile processing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3141597"/>
                  </a:ext>
                </a:extLst>
              </a:tr>
              <a:tr h="519507"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IN" dirty="0"/>
                        <a:t>Diverse input formats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</a:pPr>
                      <a:r>
                        <a:rPr lang="en-IN" dirty="0"/>
                        <a:t>Standardized RGB preprocessing pipeline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757308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A3489-6BC2-1D5F-FCA5-102BEFBE9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650" y="1279525"/>
            <a:ext cx="10515600" cy="1325563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9D7B862-B55F-AA31-0EF6-5F41357488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5525" y="2629273"/>
            <a:ext cx="10140950" cy="2708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Was Achieved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PSNR improved by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8–12 dB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SSIM by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0.15–0.20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over hazy baseline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Only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~11K trainable parameters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— efficient, no overfitting on 413 pairs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Tiled inference handles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arbitrary resolution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(including 4K)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Full-stack app accessible to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non-technical users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Local/offline deployment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— no cloud, no data privacy risk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~2,685 lines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of production code across 19 files, MIT Licensed </a:t>
            </a:r>
          </a:p>
        </p:txBody>
      </p:sp>
    </p:spTree>
    <p:extLst>
      <p:ext uri="{BB962C8B-B14F-4D97-AF65-F5344CB8AC3E}">
        <p14:creationId xmlns:p14="http://schemas.microsoft.com/office/powerpoint/2010/main" val="1289514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ym typeface="+mn-ea"/>
              </a:rPr>
              <a:t>References(in IEEE format)</a:t>
            </a:r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37C0B82-C18A-37BF-7803-2ED44F4A94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5240" y="2231258"/>
            <a:ext cx="9341519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 et al., "MAXIM: Multi-Axis MLP for Image Processing," CVPR 2022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 et al., "Single Image Haze Removal Using Dark Channel Prior," IEEE TPAMI, 2011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Cai et al., "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DehazeNet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," IEEE TIP, 2016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 et al., "RESIDE Benchmark," IEEE TIP, 2019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Hu et al., "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," ICLR 2022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Wang et al., "SSIM," IEEE TIP, 2004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Google Research, MAXIM-S2 on Hugging Face, 2022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695</Words>
  <Application>Microsoft Office PowerPoint</Application>
  <PresentationFormat>Widescreen</PresentationFormat>
  <Paragraphs>105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DEHAZE: AI-POWERED IMAGE DEHAZING USING DEEP LEARNING</vt:lpstr>
      <vt:lpstr>Objective</vt:lpstr>
      <vt:lpstr>Innovation in the project </vt:lpstr>
      <vt:lpstr>PowerPoint Presentation</vt:lpstr>
      <vt:lpstr>Experimental Prototype</vt:lpstr>
      <vt:lpstr>PowerPoint Presentation</vt:lpstr>
      <vt:lpstr>Result</vt:lpstr>
      <vt:lpstr>Challenges &amp; Solutions</vt:lpstr>
      <vt:lpstr>Conclusion</vt:lpstr>
      <vt:lpstr>References(in IEEE format)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/>
  <cp:lastModifiedBy>abhishek singh</cp:lastModifiedBy>
  <cp:revision>16</cp:revision>
  <dcterms:created xsi:type="dcterms:W3CDTF">2025-09-02T05:44:00Z</dcterms:created>
  <dcterms:modified xsi:type="dcterms:W3CDTF">2026-03-31T09:37:06Z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0BBD1EE19E074866AA17DB09360BCB16_13</vt:lpwstr>
  </property>
  <property fmtid="{D5CDD505-2E9C-101B-9397-08002B2CF9AE}" pid="3" name="KSOProductBuildVer">
    <vt:lpwstr>1033-12.1.0.25242</vt:lpwstr>
  </property>
</Properties>
</file>